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Revenue at Risk by Category (R$M)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at Risk (R$M)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Churned Customers</c:v>
                  </c:pt>
                  <c:pt idx="1">
                    <c:v>At-Risk Customers</c:v>
                  </c:pt>
                  <c:pt idx="2">
                    <c:v>Margin Loss (annual)</c:v>
                  </c:pt>
                  <c:pt idx="3">
                    <c:v>Lost Orders</c:v>
                  </c:pt>
                  <c:pt idx="4">
                    <c:v>Stuck Payments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4.7</c:v>
                </c:pt>
                <c:pt idx="1">
                  <c:v>6.4</c:v>
                </c:pt>
                <c:pt idx="2">
                  <c:v>0.55</c:v>
                </c:pt>
                <c:pt idx="3">
                  <c:v>0.09</c:v>
                </c:pt>
                <c:pt idx="4">
                  <c:v>0.22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RFM Segments (99,441 customers)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</c:dPt>
          <c:dPt>
            <c:idx val="2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Potential
55,485</c:v>
                </c:pt>
                <c:pt idx="1">
                  <c:v>At Risk
23,862</c:v>
                </c:pt>
                <c:pt idx="2">
                  <c:v>Loyal
18,162</c:v>
                </c:pt>
                <c:pt idx="3">
                  <c:v>Champions
1,932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55485</c:v>
                </c:pt>
                <c:pt idx="1">
                  <c:v>23862</c:v>
                </c:pt>
                <c:pt idx="2">
                  <c:v>18162</c:v>
                </c:pt>
                <c:pt idx="3">
                  <c:v>1932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2017 Revenue (R$K)</c:v>
                </c:pt>
              </c:strCache>
            </c:strRef>
          </c:tx>
          <c:spPr>
            <a:solidFill>
              <a:srgbClr val="64748B"/>
            </a:solidFill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137</c:v>
                </c:pt>
                <c:pt idx="1">
                  <c:v>286</c:v>
                </c:pt>
                <c:pt idx="2">
                  <c:v>432</c:v>
                </c:pt>
                <c:pt idx="3">
                  <c:v>412</c:v>
                </c:pt>
                <c:pt idx="4">
                  <c:v>586</c:v>
                </c:pt>
                <c:pt idx="5">
                  <c:v>503</c:v>
                </c:pt>
                <c:pt idx="6">
                  <c:v>585</c:v>
                </c:pt>
                <c:pt idx="7">
                  <c:v>668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2018 Revenue (R$K)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1107</c:v>
                </c:pt>
                <c:pt idx="1">
                  <c:v>987</c:v>
                </c:pt>
                <c:pt idx="2">
                  <c:v>1155</c:v>
                </c:pt>
                <c:pt idx="3">
                  <c:v>1160</c:v>
                </c:pt>
                <c:pt idx="4">
                  <c:v>1150</c:v>
                </c:pt>
                <c:pt idx="5">
                  <c:v>1023</c:v>
                </c:pt>
                <c:pt idx="6">
                  <c:v>1059</c:v>
                </c:pt>
                <c:pt idx="7">
                  <c:v>1003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Top Categories by Net Revenue (R$K)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(R$K)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39C12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Watches &amp; Gifts</c:v>
                  </c:pt>
                  <c:pt idx="1">
                    <c:v>Beauty &amp; Health</c:v>
                  </c:pt>
                  <c:pt idx="2">
                    <c:v>Bed &amp; Bath</c:v>
                  </c:pt>
                  <c:pt idx="3">
                    <c:v>Sports &amp; Leisure</c:v>
                  </c:pt>
                  <c:pt idx="4">
                    <c:v>IT Accessories</c:v>
                  </c:pt>
                  <c:pt idx="5">
                    <c:v>Furniture</c:v>
                  </c:pt>
                  <c:pt idx="6">
                    <c:v>Cool Stuff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1100</c:v>
                </c:pt>
                <c:pt idx="1">
                  <c:v>1070</c:v>
                </c:pt>
                <c:pt idx="2">
                  <c:v>832</c:v>
                </c:pt>
                <c:pt idx="3">
                  <c:v>819</c:v>
                </c:pt>
                <c:pt idx="4">
                  <c:v>764</c:v>
                </c:pt>
                <c:pt idx="5">
                  <c:v>557</c:v>
                </c:pt>
                <c:pt idx="6">
                  <c:v>551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Investment vs Benefit by Year (R$M)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Investment (R$M)</c:v>
                </c:pt>
              </c:strCache>
            </c:strRef>
          </c:tx>
          <c:spPr>
            <a:solidFill>
              <a:srgbClr val="F39C1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2.44</c:v>
                </c:pt>
                <c:pt idx="1">
                  <c:v>0.9</c:v>
                </c:pt>
                <c:pt idx="2">
                  <c:v>0.56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Benefit (R$M)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4.2</c:v>
                </c:pt>
                <c:pt idx="1">
                  <c:v>5.1</c:v>
                </c:pt>
                <c:pt idx="2">
                  <c:v>5.3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by stating the scope: 99K transactions, 2-year dataset, 6 critical problems identified with R$14.6M opportunity.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fundamentals: 97% delivery, R$15.84M revenue. But hidden problems are eroding long-term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6 problems were discovered through systematic SQL analysis. Each has a quantified financial impact.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transformation is achievable in 3 years with disciplined execution of the 4-phase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investment: R$3.9M across 4 phases. Phase 1 delivers quick wins in 90 days with R$300-500K expected return.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urgency: every month of inaction costs R$11.2M in at-risk customer value. Phase 1 pays back in under 3 months.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2C39A">
              <a:alpha val="15000"/>
            </a:srgbClr>
          </a:solidFill>
          <a:ln w="12700">
            <a:solidFill>
              <a:srgbClr val="02C39A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BUSINESS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Business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&amp; Strategic Analysis  |  99,441 Transactions  |  Sep 2016 – Oct 2018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R$15.84M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69748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99,441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69748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Opportunity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95160" y="3977640"/>
            <a:ext cx="1920240" cy="868680"/>
          </a:xfrm>
          <a:prstGeom prst="roundRect">
            <a:avLst>
              <a:gd name="adj" fmla="val 10526"/>
            </a:avLst>
          </a:prstGeom>
          <a:solidFill>
            <a:srgbClr val="028090">
              <a:alpha val="40000"/>
            </a:srgbClr>
          </a:solidFill>
          <a:ln w="12700">
            <a:solidFill>
              <a:srgbClr val="02C39A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40050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Months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95160" y="43708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9601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143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35608" y="10789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Business Snapshot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35608" y="14356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customers, delivery metrics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1488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331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35608" y="22677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Critical Problems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35608" y="2624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through 50+ SQL queries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3337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35608" y="3456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Impact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35608" y="3813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problems are costing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143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96128" y="107899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Causes &amp; Opportunities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96128" y="143560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214884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33172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96128" y="226771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3-Year Transformation Plan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96128" y="262432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implementation roadmap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337560"/>
            <a:ext cx="39319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52044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96128" y="3456432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&amp; Next Steps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596128" y="3813048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273% ROI, 9-month payback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BUSINESS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R$15.84M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2016 – Oct 2018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14400"/>
            <a:ext cx="26060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99,441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20040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0040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customers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91440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914400"/>
            <a:ext cx="26060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09728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35040" y="175564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035040" y="21031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World-class rate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834640"/>
            <a:ext cx="26060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 ★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65760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5.0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834640"/>
            <a:ext cx="26060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R$140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200400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0040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transaction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2834640"/>
            <a:ext cx="260604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834640"/>
            <a:ext cx="260604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017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 days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6035040" y="367588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Fulfillment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035040" y="402336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delivery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CRITICAL PROBLEMS IDENTIFIED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50+ SQL queries across sales, customer, product, operational &amp; financial analysis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07592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3075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Crisis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R$11.2M at risk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307592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59352" y="13075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Concentration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= 42% of revenue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26480" y="11430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1307592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307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39712" y="13075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Quality Issues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19202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Furniture 3.49★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028090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136392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1363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Delays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 avg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0292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4612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E74C3C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3280" y="3136392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59352" y="31363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Erosion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 → 81.8%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38328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26480" y="297180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39C12">
                <a:alpha val="8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136392"/>
            <a:ext cx="475488" cy="47548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3136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39712" y="3136392"/>
            <a:ext cx="1801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Bottlenecks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263640" y="37490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R$218K stuck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63640" y="41148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See deep-dive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1: RETENTION CRISIS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0" y="10972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2926080" cy="3474720"/>
          </a:xfrm>
          <a:prstGeom prst="roundRect">
            <a:avLst>
              <a:gd name="adj" fmla="val 375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Single-Purchase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repeat customers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99,441 orders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20440" y="86868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298448"/>
            <a:ext cx="5303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11880" y="138988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R$11.2M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74920" y="138988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 value at risk (churned + at-risk)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20440" y="2258568"/>
            <a:ext cx="5303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235000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074920" y="235000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spend from returning customers (R$249 vs R$150)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3218688"/>
            <a:ext cx="5303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331012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9,789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74920" y="331012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 — only 9.8% of total base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20440" y="4178808"/>
            <a:ext cx="5303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11880" y="427024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R$4.7M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074920" y="4270248"/>
            <a:ext cx="3657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lost from 29,898 churned customers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Source: Query 2.1 (Repeat Purchase Rate), Query 2.2 (Churn Analysis), Query 2.6 (New vs Returning)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2 &amp; 3: REGIONAL CONCENTRATION + PRODUCT QUALITY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Concentration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 – São Paulo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883664"/>
            <a:ext cx="3749040" cy="237744"/>
          </a:xfrm>
          <a:prstGeom prst="rect">
            <a:avLst/>
          </a:prstGeom>
          <a:solidFill>
            <a:srgbClr val="F39C1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8288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5146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RJ – 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2569464"/>
            <a:ext cx="118872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514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004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 – Minas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68880" y="3255264"/>
            <a:ext cx="109728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2004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88620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68880" y="3941064"/>
            <a:ext cx="3017520" cy="237744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8862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572000"/>
            <a:ext cx="3749040" cy="228600"/>
          </a:xfrm>
          <a:prstGeom prst="roundRect">
            <a:avLst>
              <a:gd name="adj" fmla="val 20000"/>
            </a:avLst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Top 3 states = 63% of revenue — concentration risk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86868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46320" y="960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Quality Issues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1828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Services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223760" y="18288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2.50 ★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5146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Furniture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223760" y="25146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3.49 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46320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Men's Fashion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223760" y="32004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3.64 ★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8862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Landline Phones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223760" y="38862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3.68 ★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46320" y="45720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Health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223760" y="457200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4.15 ★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846320" y="4572000"/>
            <a:ext cx="3749040" cy="228600"/>
          </a:xfrm>
          <a:prstGeom prst="roundRect">
            <a:avLst>
              <a:gd name="adj" fmla="val 20000"/>
            </a:avLst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4553712"/>
            <a:ext cx="3749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Office Furniture: 440 unhappy customers, 1,687 reviews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4, 5 &amp; 6: OPERATIONS, MARGINS &amp; PAYMENTS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601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Delays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 avg fulfillment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350008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7,826 late deliveries (8.1%)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916936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state only 76% on-time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483864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" y="3392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severely underserved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4050792"/>
            <a:ext cx="54864" cy="2011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" y="3959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10 days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46120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29000" y="960120"/>
            <a:ext cx="548640" cy="54864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06908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Erosion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29000" y="1783080"/>
            <a:ext cx="5486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75304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85.4% margin → 81.8% (2018)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29000" y="2350008"/>
            <a:ext cx="5486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3.6% decline = R$547K lost/yr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429000" y="2916936"/>
            <a:ext cx="5486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costs rising fast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29000" y="3483864"/>
            <a:ext cx="5486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3392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Furniture: 23.7% shipping cost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429000" y="4050792"/>
            <a:ext cx="54864" cy="20116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3959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cost optimization needed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822960"/>
            <a:ext cx="2743200" cy="40690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0" y="960120"/>
            <a:ext cx="548640" cy="5486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0" y="960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040880" y="98755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Bottlenecks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0" y="1783080"/>
            <a:ext cx="5486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47104" y="1691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R$218K stuck in failed orders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400800" y="2350008"/>
            <a:ext cx="5486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47104" y="2258568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625 canceled: R$88K lost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0" y="2916936"/>
            <a:ext cx="5486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47104" y="282549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609 unavailable: R$86K lost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00800" y="3483864"/>
            <a:ext cx="5486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47104" y="33924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314 invoiced: R$44K in limbo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400800" y="4050792"/>
            <a:ext cx="54864" cy="20116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47104" y="39593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credit card dependency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IMPACT: WHAT THESE PROBLEMS ARE COSTING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22960"/>
            <a:ext cx="2834640" cy="1463040"/>
          </a:xfrm>
          <a:prstGeom prst="roundRect">
            <a:avLst>
              <a:gd name="adj" fmla="val 75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0" y="9601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R$11.97M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5943600" y="18013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AD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 at Risk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943600" y="256032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053328" y="2670048"/>
            <a:ext cx="347472" cy="34747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92240" y="26517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 (lost)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R$4.7M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943600" y="324612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053328" y="3355848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33375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At-Risk customers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92440" y="33375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R$6.4M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43600" y="393192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053328" y="4041648"/>
            <a:ext cx="347472" cy="3474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92240" y="40233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margin loss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092440" y="40233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R$547K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943600" y="4617720"/>
            <a:ext cx="283464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053328" y="472744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92240" y="470916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Stuck payments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92440" y="470916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R$218K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ANALYSIS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these problems exist — and what to do about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87552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Crisis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72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CRM, no loyalty program, no post-purchase journey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Email automation + loyalty rewards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8016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68112" y="126187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Gap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5727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Marketing 100% concentrated in SP/RJ/MG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983480" y="185623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Targeted NE campaigns + local logistics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46888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87552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Quality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28529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seller quality gate or product standards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Seller scorecard + quality thresholds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46320" y="246888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25603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68112" y="254203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Delivery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285292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Single logistics partner, no regional hubs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313639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3PL partnerships in NE + SLAs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87552" y="3822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Erosion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4133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Shipping costs growing faster than revenue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" y="44165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Free shipping threshold + bulk deals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4251960" cy="1143000"/>
          </a:xfrm>
          <a:prstGeom prst="roundRect">
            <a:avLst>
              <a:gd name="adj" fmla="val 72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028090">
                <a:alpha val="6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840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68112" y="38221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Issues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983480" y="413308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No automated retry or inventory sync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83480" y="441655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Payment retry + real-time stock alerts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SEGMENTATION: RFM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438912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892040" y="914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217920" y="914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995160" y="9144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CLV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9144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892040" y="13716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55448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58968" y="14630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0" y="14630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086600" y="14630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0" y="14630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&amp; retain at all costs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892040" y="22860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83480" y="24688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58968" y="23774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0" y="23774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18,162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086600" y="23774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R$424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72400" y="23774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&amp; cross-sell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892040" y="32004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983480" y="338328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458968" y="32918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Risk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400800" y="32918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23,862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086600" y="32918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Win-back campaign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4892040" y="4114800"/>
            <a:ext cx="3931920" cy="749808"/>
          </a:xfrm>
          <a:prstGeom prst="roundRect">
            <a:avLst>
              <a:gd name="adj" fmla="val 853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4983480" y="4297680"/>
            <a:ext cx="384048" cy="384048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58968" y="42062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Potential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0" y="4206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55,485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086600" y="4206240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R$94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772400" y="42062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Loyal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TREND: 2017 → 2018 GROWTH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84124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4480560"/>
            <a:ext cx="2651760" cy="475488"/>
          </a:xfrm>
          <a:prstGeom prst="roundRect">
            <a:avLst>
              <a:gd name="adj" fmla="val 13462"/>
            </a:avLst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4988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755% YoY growth Jan 2017→2018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291840" y="4480560"/>
            <a:ext cx="2651760" cy="475488"/>
          </a:xfrm>
          <a:prstGeom prst="roundRect">
            <a:avLst>
              <a:gd name="adj" fmla="val 13462"/>
            </a:avLst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44988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Stable R$1M+/month in 2018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4480560"/>
            <a:ext cx="2651760" cy="475488"/>
          </a:xfrm>
          <a:prstGeom prst="roundRect">
            <a:avLst>
              <a:gd name="adj" fmla="val 13462"/>
            </a:avLst>
          </a:prstGeom>
          <a:solidFill>
            <a:srgbClr val="028090">
              <a:alpha val="9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355080" y="44988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Nov 2017 peak: Black Friday effect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PERFORMANCE &amp; PROFITABILITY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8686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943600" y="868680"/>
            <a:ext cx="28346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53328" y="9601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Profitable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53328" y="125272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&amp; Gifts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8.34% shipping cost — best margin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43600" y="192024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0" y="1920240"/>
            <a:ext cx="28346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53328" y="20116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Highest Volume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053328" y="230428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&amp; Health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8,836 orders but 14.5% ship cost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943600" y="297180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943600" y="2971800"/>
            <a:ext cx="283464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306324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Problem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53328" y="335584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Furniture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23.7% shipping cost drains profit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43600" y="402336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943600" y="4023360"/>
            <a:ext cx="28346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53328" y="411480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Bundle Opp.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053328" y="4407408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Bed+Furniture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co-purchases — create bundles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OPERATIONAL EFFICIENCY SCORECARD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51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31720" y="100584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A+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97.01%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868680"/>
            <a:ext cx="2651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12080" y="100584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612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94.97%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4612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Rate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86868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868680"/>
            <a:ext cx="2651760" cy="731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100584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92440" y="1005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B-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26480" y="105156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26480" y="17830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Fulfillment Days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27889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2788920"/>
            <a:ext cx="265176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31720" y="292608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3172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4.09/5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65760" y="3703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46120" y="27889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46120" y="2788920"/>
            <a:ext cx="265176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12080" y="292608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1208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24612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99.37%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3246120" y="3703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Success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26480" y="278892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2788920"/>
            <a:ext cx="265176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092440" y="2926080"/>
            <a:ext cx="548640" cy="502920"/>
          </a:xfrm>
          <a:prstGeom prst="roundRect">
            <a:avLst>
              <a:gd name="adj" fmla="val 1272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92440" y="29260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126480" y="297180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76%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126480" y="37033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Northeast On-Time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3-YEAR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problems into R$14.6M benefit over 3 years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64748B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8288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2316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24231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0175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Profit/Customer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3017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R$114.93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Fulfillment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3611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" y="420624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42062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94760" y="219456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94760" y="21945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3794760" y="35478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77840" y="1234440"/>
            <a:ext cx="3200400" cy="3657600"/>
          </a:xfrm>
          <a:prstGeom prst="roundRect">
            <a:avLst>
              <a:gd name="adj" fmla="val 2857"/>
            </a:avLst>
          </a:prstGeom>
          <a:solidFill>
            <a:srgbClr val="028090">
              <a:alpha val="20000"/>
            </a:srgbClr>
          </a:solidFill>
          <a:ln w="12700">
            <a:solidFill>
              <a:srgbClr val="02C39A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77840" y="13258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TARGET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18288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Revenue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35240" y="18288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R$24.7M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635240" y="21762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+106%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715000" y="242316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Rate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35240" y="24231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5240" y="27706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+20pp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715000" y="301752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Profit/Customer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35240" y="30175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R$250+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35240" y="33649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+117%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715000" y="36118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Fulfillment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361188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days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35240" y="39593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-34%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5715000" y="42062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42062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85%+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35240" y="45537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+3.2pp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4-PHASE IMPLEMENTATION ROADMAP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841248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70432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70432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1261872"/>
            <a:ext cx="548640" cy="5486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Wins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R$540K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CRM + email automation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" y="34107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Seller quality scorecard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5488" y="384962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Payment retry system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" y="428853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 inventory sync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91840" y="841248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1170432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1170432"/>
            <a:ext cx="201168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261872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51460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Program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51460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4–8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1460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R$1.2M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62432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Loyalty rewards launch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624328" y="34107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 delivery hubs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624328" y="384962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Recommendation engine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624328" y="428853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Targeted regional campaigns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40680" y="841248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170432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170432"/>
            <a:ext cx="201168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0" y="1261872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9496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344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Upgrade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66344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9–12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R$1.5M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7316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analytics platform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73168" y="34107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Churn prediction model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73168" y="384962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Real-time KPI dashboard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73168" y="428853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Warehouse automation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589520" y="841248"/>
            <a:ext cx="256032" cy="256032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1170432"/>
            <a:ext cx="2011680" cy="356616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12280" y="1170432"/>
            <a:ext cx="201168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43800" y="1261872"/>
            <a:ext cx="548640" cy="54864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43800" y="1261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812280" y="19202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6812280" y="23042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2+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812280" y="2606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R$0.66M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922008" y="2971800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A/B test everything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22008" y="341071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to new markets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922008" y="3849624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International logistics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22008" y="4288536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Product quality AI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MODEL &amp; ROI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ROI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42032" y="8229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42032" y="822960"/>
            <a:ext cx="1920240" cy="640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R$3.9M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542032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18304" y="8229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18304" y="822960"/>
            <a:ext cx="192024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8304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mo.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18304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Period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94576" y="822960"/>
            <a:ext cx="192024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94576" y="822960"/>
            <a:ext cx="192024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94576" y="9601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R$14.6M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94576" y="16276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Total Benefit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331720"/>
          <a:ext cx="530352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5943600" y="237744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 BREAKDOWN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943600" y="283464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053328" y="289864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program (Year 1-3)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973568" y="289864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R$4.95M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943600" y="342900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053328" y="349300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973568" y="349300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R$2.8M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43600" y="402336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053328" y="40873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improvement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7973568" y="408736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R$2.5M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5943600" y="461772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053328" y="4681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7973568" y="468172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R$2.3M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943600" y="5212080"/>
            <a:ext cx="283464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6053328" y="527608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quality uplift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7973568" y="5276088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R$2.05M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 ANALYSIS: CONSERVATIVE TO OPTIMISTIC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F8F9FA"/>
          </a:solidFill>
          <a:ln w="12700">
            <a:solidFill>
              <a:srgbClr val="64748B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2697480" cy="82296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Conservative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retention improvement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margin recovery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delivery partial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7889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874520" y="2788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R$17.3M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34290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3474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874520" y="3474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142%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41148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874520" y="4160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months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291840" y="8686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EBF5FB"/>
          </a:solidFill>
          <a:ln w="12700">
            <a:solidFill>
              <a:srgbClr val="028090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91840" y="868680"/>
            <a:ext cx="2697480" cy="8229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0058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Case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3291840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29000" y="18745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retention improvement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 margin recovery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4-phase rollout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7432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520440" y="27889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00600" y="2788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R$24.7M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429000" y="34290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520440" y="3474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00600" y="3474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273%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29000" y="41148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520440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4160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months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217920" y="868680"/>
            <a:ext cx="2697480" cy="4023360"/>
          </a:xfrm>
          <a:prstGeom prst="roundRect">
            <a:avLst>
              <a:gd name="adj" fmla="val 4068"/>
            </a:avLst>
          </a:prstGeom>
          <a:solidFill>
            <a:srgbClr val="E8F8F5"/>
          </a:solidFill>
          <a:ln w="12700">
            <a:solidFill>
              <a:srgbClr val="02C39A">
                <a:alpha val="80000"/>
              </a:srgbClr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868680"/>
            <a:ext cx="2697480" cy="8229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1005840"/>
            <a:ext cx="2697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Optimistic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217920" y="1572768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355080" y="1874520"/>
            <a:ext cx="2423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retention improvement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margin recovery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expansion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355080" y="27432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446520" y="27889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 Revenue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726680" y="27889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R$34.0M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55080" y="34290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446520" y="34747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726680" y="34747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410%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355080" y="4114800"/>
            <a:ext cx="2423160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46520" y="41605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26680" y="416052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months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365760" y="49560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Base Case recommended — achievable with full stakeholder commitment and Phase 1 approval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SUCCESS METRICS: TRACKING TRANSFORMATION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Growth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74320" y="1344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R$12M/yr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R$24.7M/yr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+106%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8686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868680"/>
            <a:ext cx="1965960" cy="6400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960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50592" y="1344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50592" y="1709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50592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450592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+20pp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26864" y="8686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26864" y="86868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26864" y="960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Order Value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626864" y="1344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R$140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626864" y="1709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26864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R$185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626864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+32%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03136" y="8686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03136" y="868680"/>
            <a:ext cx="19659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03136" y="9601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Fulfillment Days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803136" y="13441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12.1 days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803136" y="1709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03136" y="1965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days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03136" y="23317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-34%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29260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2926080"/>
            <a:ext cx="1965960" cy="640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Gross Margin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74320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81.8%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274320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74320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74320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450592" y="29260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2450592" y="2926080"/>
            <a:ext cx="1965960" cy="640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50592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 On-Time Rate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2450592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76%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2450592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2450592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450592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+16pp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26864" y="29260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26864" y="2926080"/>
            <a:ext cx="196596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26864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Champions Segment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626864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1,932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4626864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626864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8,000+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626864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+314%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03136" y="2926080"/>
            <a:ext cx="196596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803136" y="2926080"/>
            <a:ext cx="1965960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03136" y="301752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Avg Review Score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803136" y="3401568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4.09 ★</a:t>
            </a:r>
            <a:endParaRPr lang="en-US" sz="1250" dirty="0"/>
          </a:p>
        </p:txBody>
      </p:sp>
      <p:sp>
        <p:nvSpPr>
          <p:cNvPr id="57" name="Text 55"/>
          <p:cNvSpPr/>
          <p:nvPr/>
        </p:nvSpPr>
        <p:spPr>
          <a:xfrm>
            <a:off x="6803136" y="37673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803136" y="40233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4.40 ★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6803136" y="43891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decisions needed to begin the transformation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6304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98448" y="12618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298448" y="151790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Phase 1 Budget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98448" y="188366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R$540K — CRM, seller scorecard, payment retry. Expected R$300-500K return in 90 days.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0" y="150876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5087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R$540K →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69748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97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98448" y="24963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298448" y="275234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 Project Owner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311810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 a senior PM and cross-functional team (tech + ops + marketing) to drive execution.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74320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0" y="274320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 →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1115568"/>
          </a:xfrm>
          <a:prstGeom prst="roundRect">
            <a:avLst>
              <a:gd name="adj" fmla="val 8197"/>
            </a:avLst>
          </a:prstGeom>
          <a:solidFill>
            <a:srgbClr val="FFFFFF">
              <a:alpha val="6000"/>
            </a:srgbClr>
          </a:solidFill>
          <a:ln w="12700">
            <a:solidFill>
              <a:srgbClr val="028090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66928" y="393192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3931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98448" y="373075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298448" y="39867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CRM Vendor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98448" y="4352544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RFP for CRM + email automation platform. This is the single most critical tool for retention.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3977640"/>
            <a:ext cx="1691640" cy="457200"/>
          </a:xfrm>
          <a:prstGeom prst="roundRect">
            <a:avLst>
              <a:gd name="adj" fmla="val 14000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0" y="39776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RFP →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5486400" cy="5486400"/>
          </a:xfrm>
          <a:prstGeom prst="ellipse">
            <a:avLst/>
          </a:prstGeom>
          <a:solidFill>
            <a:srgbClr val="028090">
              <a:alpha val="15000"/>
            </a:srgbClr>
          </a:solidFill>
          <a:ln w="12700">
            <a:solidFill>
              <a:srgbClr val="028090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87552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R$14.6M Opportunity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Waiting to Be Unlocked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66928" y="2834640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74320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critical problems identified through 50+ SQL queries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3364992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27355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retention crisis = R$11.2M in at-risk revenue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895344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80390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273% ROI achievable in 3 years with R$3.9M investment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4425696"/>
            <a:ext cx="201168" cy="20116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342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(R$540K) delivers R$300-500K return in 90 days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17720"/>
            <a:ext cx="4937760" cy="384048"/>
          </a:xfrm>
          <a:prstGeom prst="roundRect">
            <a:avLst>
              <a:gd name="adj" fmla="val 1904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6177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Brazilian E-Commerce Dataset (Kaggle)  |  99,441 orders  |  50+ SQL queries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0" y="4617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End-to-End Business Transformation Analysis</dc:title>
  <dc:subject>PptxGenJS Presentation</dc:subject>
  <dc:creator>Hiba Mohammad</dc:creator>
  <cp:lastModifiedBy>Hiba Mohammad</cp:lastModifiedBy>
  <cp:revision>1</cp:revision>
  <dcterms:created xsi:type="dcterms:W3CDTF">2026-06-17T01:47:55Z</dcterms:created>
  <dcterms:modified xsi:type="dcterms:W3CDTF">2026-06-17T01:47:55Z</dcterms:modified>
</cp:coreProperties>
</file>